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35"/>
    <a:srgbClr val="03060C"/>
    <a:srgbClr val="071427"/>
    <a:srgbClr val="0514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6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6D9267C-A6F2-4D22-A0EC-499C0E232477}" type="datetimeFigureOut">
              <a:rPr lang="pt-BR" smtClean="0"/>
              <a:t>10/11/2025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39867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6D9267C-A6F2-4D22-A0EC-499C0E232477}" type="datetimeFigureOut">
              <a:rPr lang="pt-BR" smtClean="0"/>
              <a:t>10/11/2025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745427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6D9267C-A6F2-4D22-A0EC-499C0E232477}" type="datetimeFigureOut">
              <a:rPr lang="pt-BR" smtClean="0"/>
              <a:t>10/11/2025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1162470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6D9267C-A6F2-4D22-A0EC-499C0E232477}" type="datetimeFigureOut">
              <a:rPr lang="pt-BR" smtClean="0"/>
              <a:t>10/11/2025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320671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618442"/>
            <a:ext cx="2901255"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618442"/>
            <a:ext cx="2915543"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6D9267C-A6F2-4D22-A0EC-499C0E232477}" type="datetimeFigureOut">
              <a:rPr lang="pt-BR" smtClean="0"/>
              <a:t>10/11/2025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3892519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6D9267C-A6F2-4D22-A0EC-499C0E232477}" type="datetimeFigureOut">
              <a:rPr lang="pt-BR" smtClean="0"/>
              <a:t>10/11/2025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2598613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9267C-A6F2-4D22-A0EC-499C0E232477}" type="datetimeFigureOut">
              <a:rPr lang="pt-BR" smtClean="0"/>
              <a:t>10/11/2025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1929306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6D9267C-A6F2-4D22-A0EC-499C0E232477}" type="datetimeFigureOut">
              <a:rPr lang="pt-BR" smtClean="0"/>
              <a:t>10/11/2025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3036647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6D9267C-A6F2-4D22-A0EC-499C0E232477}" type="datetimeFigureOut">
              <a:rPr lang="pt-BR" smtClean="0"/>
              <a:t>10/11/2025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193806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6D9267C-A6F2-4D22-A0EC-499C0E232477}" type="datetimeFigureOut">
              <a:rPr lang="pt-BR" smtClean="0"/>
              <a:t>10/11/2025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2958578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6D9267C-A6F2-4D22-A0EC-499C0E232477}" type="datetimeFigureOut">
              <a:rPr lang="pt-BR" smtClean="0"/>
              <a:t>10/11/2025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79726AD-F538-4280-B941-16A76DCE6D85}" type="slidenum">
              <a:rPr lang="pt-BR" smtClean="0"/>
              <a:t>‹nº›</a:t>
            </a:fld>
            <a:endParaRPr lang="pt-BR"/>
          </a:p>
        </p:txBody>
      </p:sp>
    </p:spTree>
    <p:extLst>
      <p:ext uri="{BB962C8B-B14F-4D97-AF65-F5344CB8AC3E}">
        <p14:creationId xmlns:p14="http://schemas.microsoft.com/office/powerpoint/2010/main" val="2452385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96D9267C-A6F2-4D22-A0EC-499C0E232477}" type="datetimeFigureOut">
              <a:rPr lang="pt-BR" smtClean="0"/>
              <a:t>10/11/2025</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79726AD-F538-4280-B941-16A76DCE6D85}" type="slidenum">
              <a:rPr lang="pt-BR" smtClean="0"/>
              <a:t>‹nº›</a:t>
            </a:fld>
            <a:endParaRPr lang="pt-BR"/>
          </a:p>
        </p:txBody>
      </p:sp>
    </p:spTree>
    <p:extLst>
      <p:ext uri="{BB962C8B-B14F-4D97-AF65-F5344CB8AC3E}">
        <p14:creationId xmlns:p14="http://schemas.microsoft.com/office/powerpoint/2010/main" val="1823859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BE993F2-1D61-4CF1-A667-DBD3E0346795}"/>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5" name="Imagem 4">
            <a:extLst>
              <a:ext uri="{FF2B5EF4-FFF2-40B4-BE49-F238E27FC236}">
                <a16:creationId xmlns:a16="http://schemas.microsoft.com/office/drawing/2014/main" id="{DCFD5E68-6D3E-4197-B532-A7B9D44F2F66}"/>
              </a:ext>
            </a:extLst>
          </p:cNvPr>
          <p:cNvPicPr>
            <a:picLocks noChangeAspect="1"/>
          </p:cNvPicPr>
          <p:nvPr/>
        </p:nvPicPr>
        <p:blipFill rotWithShape="1">
          <a:blip r:embed="rId2">
            <a:extLst>
              <a:ext uri="{28A0092B-C50C-407E-A947-70E740481C1C}">
                <a14:useLocalDpi xmlns:a14="http://schemas.microsoft.com/office/drawing/2010/main" val="0"/>
              </a:ext>
            </a:extLst>
          </a:blip>
          <a:srcRect l="29976" t="5432" r="16690" b="-744"/>
          <a:stretch/>
        </p:blipFill>
        <p:spPr>
          <a:xfrm>
            <a:off x="322" y="0"/>
            <a:ext cx="6857678" cy="6466114"/>
          </a:xfrm>
          <a:prstGeom prst="rect">
            <a:avLst/>
          </a:prstGeom>
        </p:spPr>
      </p:pic>
      <p:sp>
        <p:nvSpPr>
          <p:cNvPr id="6" name="Retângulo 5">
            <a:extLst>
              <a:ext uri="{FF2B5EF4-FFF2-40B4-BE49-F238E27FC236}">
                <a16:creationId xmlns:a16="http://schemas.microsoft.com/office/drawing/2014/main" id="{79CDE6ED-DD24-4D9B-934E-C04C96417A5C}"/>
              </a:ext>
            </a:extLst>
          </p:cNvPr>
          <p:cNvSpPr/>
          <p:nvPr/>
        </p:nvSpPr>
        <p:spPr>
          <a:xfrm>
            <a:off x="-88640" y="6805749"/>
            <a:ext cx="7034954" cy="1754326"/>
          </a:xfrm>
          <a:prstGeom prst="rect">
            <a:avLst/>
          </a:prstGeom>
          <a:noFill/>
        </p:spPr>
        <p:txBody>
          <a:bodyPr wrap="square" lIns="91440" tIns="45720" rIns="91440" bIns="45720">
            <a:spAutoFit/>
          </a:bodyPr>
          <a:lstStyle/>
          <a:p>
            <a:pPr algn="ct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latin typeface="Bauhaus 93" panose="04030905020B02020C02" pitchFamily="82" charset="0"/>
              </a:rPr>
              <a:t>O D</a:t>
            </a: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Bauhaus 93" panose="04030905020B02020C02" pitchFamily="82" charset="0"/>
              </a:rPr>
              <a:t>espertar da Máquina</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CaixaDeTexto 6">
            <a:extLst>
              <a:ext uri="{FF2B5EF4-FFF2-40B4-BE49-F238E27FC236}">
                <a16:creationId xmlns:a16="http://schemas.microsoft.com/office/drawing/2014/main" id="{E2D1C1D7-83EE-42AB-B12F-420D6EE73410}"/>
              </a:ext>
            </a:extLst>
          </p:cNvPr>
          <p:cNvSpPr txBox="1"/>
          <p:nvPr/>
        </p:nvSpPr>
        <p:spPr>
          <a:xfrm>
            <a:off x="1142837" y="9409160"/>
            <a:ext cx="4572001" cy="338554"/>
          </a:xfrm>
          <a:prstGeom prst="rect">
            <a:avLst/>
          </a:prstGeom>
          <a:noFill/>
        </p:spPr>
        <p:txBody>
          <a:bodyPr wrap="square" rtlCol="0">
            <a:spAutoFit/>
          </a:bodyPr>
          <a:lstStyle/>
          <a:p>
            <a:pPr algn="ctr"/>
            <a:r>
              <a:rPr lang="pt-BR" sz="1600" b="1" dirty="0">
                <a:solidFill>
                  <a:schemeClr val="bg1"/>
                </a:solidFill>
                <a:latin typeface="Century Gothic" panose="020B0502020202020204" pitchFamily="34" charset="0"/>
              </a:rPr>
              <a:t>Ana Júlia Eloy</a:t>
            </a:r>
          </a:p>
        </p:txBody>
      </p:sp>
    </p:spTree>
    <p:extLst>
      <p:ext uri="{BB962C8B-B14F-4D97-AF65-F5344CB8AC3E}">
        <p14:creationId xmlns:p14="http://schemas.microsoft.com/office/powerpoint/2010/main" val="3228468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0" y="293845"/>
            <a:ext cx="6858000" cy="1569660"/>
          </a:xfrm>
          <a:prstGeom prst="rect">
            <a:avLst/>
          </a:prstGeom>
          <a:noFill/>
        </p:spPr>
        <p:txBody>
          <a:bodyPr wrap="square" rtlCol="0">
            <a:spAutoFit/>
          </a:bodyPr>
          <a:lstStyle/>
          <a:p>
            <a:pPr algn="ctr"/>
            <a:r>
              <a:rPr lang="pt-BR" sz="3200" dirty="0">
                <a:solidFill>
                  <a:schemeClr val="bg1"/>
                </a:solidFill>
                <a:latin typeface="Bauhaus 93" panose="04030905020B02020C02" pitchFamily="82" charset="0"/>
              </a:rPr>
              <a:t>IA no seu dia a dia — </a:t>
            </a:r>
          </a:p>
          <a:p>
            <a:pPr algn="ctr"/>
            <a:r>
              <a:rPr lang="pt-BR" sz="3200" dirty="0">
                <a:solidFill>
                  <a:schemeClr val="bg1"/>
                </a:solidFill>
                <a:latin typeface="Bauhaus 93" panose="04030905020B02020C02" pitchFamily="82" charset="0"/>
              </a:rPr>
              <a:t>10 formas de usar </a:t>
            </a:r>
            <a:br>
              <a:rPr lang="pt-BR" sz="3200" dirty="0">
                <a:solidFill>
                  <a:schemeClr val="bg1"/>
                </a:solidFill>
                <a:latin typeface="Bauhaus 93" panose="04030905020B02020C02" pitchFamily="82" charset="0"/>
              </a:rPr>
            </a:br>
            <a:r>
              <a:rPr lang="pt-BR" sz="3200" dirty="0">
                <a:solidFill>
                  <a:schemeClr val="bg1"/>
                </a:solidFill>
                <a:latin typeface="Bauhaus 93" panose="04030905020B02020C02" pitchFamily="82" charset="0"/>
              </a:rPr>
              <a:t>inteligência artificial sem perceber</a:t>
            </a:r>
          </a:p>
        </p:txBody>
      </p:sp>
      <p:sp>
        <p:nvSpPr>
          <p:cNvPr id="6" name="Retângulo 5">
            <a:extLst>
              <a:ext uri="{FF2B5EF4-FFF2-40B4-BE49-F238E27FC236}">
                <a16:creationId xmlns:a16="http://schemas.microsoft.com/office/drawing/2014/main" id="{17A407DD-C213-4A7B-BC9F-C466B0B4E4DD}"/>
              </a:ext>
            </a:extLst>
          </p:cNvPr>
          <p:cNvSpPr/>
          <p:nvPr/>
        </p:nvSpPr>
        <p:spPr>
          <a:xfrm>
            <a:off x="431074" y="2166534"/>
            <a:ext cx="2433918" cy="523220"/>
          </a:xfrm>
          <a:prstGeom prst="rect">
            <a:avLst/>
          </a:prstGeom>
        </p:spPr>
        <p:txBody>
          <a:bodyPr wrap="square">
            <a:spAutoFit/>
          </a:bodyPr>
          <a:lstStyle/>
          <a:p>
            <a:r>
              <a:rPr lang="pt-BR" sz="2800" b="1" dirty="0">
                <a:solidFill>
                  <a:schemeClr val="bg1"/>
                </a:solidFill>
                <a:latin typeface="Century Gothic" panose="020B0502020202020204" pitchFamily="34" charset="0"/>
              </a:rPr>
              <a:t>Descrição</a:t>
            </a:r>
          </a:p>
        </p:txBody>
      </p:sp>
      <p:sp>
        <p:nvSpPr>
          <p:cNvPr id="7" name="Retângulo 6">
            <a:extLst>
              <a:ext uri="{FF2B5EF4-FFF2-40B4-BE49-F238E27FC236}">
                <a16:creationId xmlns:a16="http://schemas.microsoft.com/office/drawing/2014/main" id="{50EC472A-0781-4BDE-99EB-8DEFE2D4862D}"/>
              </a:ext>
            </a:extLst>
          </p:cNvPr>
          <p:cNvSpPr/>
          <p:nvPr/>
        </p:nvSpPr>
        <p:spPr>
          <a:xfrm>
            <a:off x="431074" y="2992783"/>
            <a:ext cx="6309358" cy="2862322"/>
          </a:xfrm>
          <a:prstGeom prst="rect">
            <a:avLst/>
          </a:prstGeom>
        </p:spPr>
        <p:txBody>
          <a:bodyPr wrap="square">
            <a:spAutoFit/>
          </a:bodyPr>
          <a:lstStyle/>
          <a:p>
            <a:r>
              <a:rPr lang="pt-BR" sz="2000" dirty="0">
                <a:solidFill>
                  <a:schemeClr val="bg1"/>
                </a:solidFill>
              </a:rPr>
              <a:t>Você sabia que usa inteligência artificial todos os dias — mesmo sem perceber?</a:t>
            </a:r>
            <a:br>
              <a:rPr lang="pt-BR" sz="2000" dirty="0">
                <a:solidFill>
                  <a:schemeClr val="bg1"/>
                </a:solidFill>
              </a:rPr>
            </a:br>
            <a:r>
              <a:rPr lang="pt-BR" sz="2000" dirty="0">
                <a:solidFill>
                  <a:schemeClr val="bg1"/>
                </a:solidFill>
              </a:rPr>
              <a:t>Da hora em que acorda até o momento de dormir, algoritmos inteligentes estão por trás de aplicativos, sites e dispositivos que facilitam a sua vida.</a:t>
            </a:r>
            <a:br>
              <a:rPr lang="pt-BR" sz="2000" dirty="0">
                <a:solidFill>
                  <a:schemeClr val="bg1"/>
                </a:solidFill>
              </a:rPr>
            </a:br>
            <a:r>
              <a:rPr lang="pt-BR" sz="2000" dirty="0">
                <a:solidFill>
                  <a:schemeClr val="bg1"/>
                </a:solidFill>
              </a:rPr>
              <a:t>Neste e-book, você vai descobrir como a IA está presente nas tarefas mais simples do cotidiano, entender o que há por trás dessas tecnologias e refletir sobre como elas estão transformando o mundo.</a:t>
            </a:r>
          </a:p>
        </p:txBody>
      </p:sp>
    </p:spTree>
    <p:extLst>
      <p:ext uri="{BB962C8B-B14F-4D97-AF65-F5344CB8AC3E}">
        <p14:creationId xmlns:p14="http://schemas.microsoft.com/office/powerpoint/2010/main" val="35504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274319" y="505691"/>
            <a:ext cx="6309359" cy="830997"/>
          </a:xfrm>
          <a:prstGeom prst="rect">
            <a:avLst/>
          </a:prstGeom>
          <a:noFill/>
        </p:spPr>
        <p:txBody>
          <a:bodyPr wrap="square" rtlCol="0">
            <a:spAutoFit/>
          </a:bodyPr>
          <a:lstStyle/>
          <a:p>
            <a:pPr algn="ctr"/>
            <a:r>
              <a:rPr lang="pt-BR" sz="4800" dirty="0">
                <a:solidFill>
                  <a:schemeClr val="bg1"/>
                </a:solidFill>
                <a:latin typeface="Bauhaus 93" panose="04030905020B02020C02" pitchFamily="82" charset="0"/>
              </a:rPr>
              <a:t>Sumário</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344630" y="1842379"/>
            <a:ext cx="6376209" cy="3139321"/>
          </a:xfrm>
          <a:prstGeom prst="rect">
            <a:avLst/>
          </a:prstGeom>
          <a:noFill/>
        </p:spPr>
        <p:txBody>
          <a:bodyPr wrap="square" rtlCol="0">
            <a:spAutoFit/>
          </a:bodyPr>
          <a:lstStyle/>
          <a:p>
            <a:pPr marL="457200" indent="-457200">
              <a:buAutoNum type="arabicPeriod"/>
            </a:pPr>
            <a:r>
              <a:rPr lang="pt-BR" altLang="pt-BR" sz="2000" b="1" dirty="0">
                <a:solidFill>
                  <a:schemeClr val="bg1"/>
                </a:solidFill>
              </a:rPr>
              <a:t>Introdução – A IA invisível que já faz parte da sua rotina</a:t>
            </a:r>
          </a:p>
          <a:p>
            <a:pPr marL="457200" indent="-457200">
              <a:buAutoNum type="arabicPeriod"/>
            </a:pPr>
            <a:r>
              <a:rPr lang="pt-BR" altLang="pt-BR" sz="2000" b="1" dirty="0">
                <a:solidFill>
                  <a:schemeClr val="bg1"/>
                </a:solidFill>
              </a:rPr>
              <a:t>Assistentes virtuais: sua voz, o poder da IA</a:t>
            </a:r>
          </a:p>
          <a:p>
            <a:pPr marL="457200" indent="-457200">
              <a:buAutoNum type="arabicPeriod"/>
            </a:pPr>
            <a:r>
              <a:rPr lang="pt-BR" altLang="pt-BR" sz="2000" b="1" dirty="0">
                <a:solidFill>
                  <a:schemeClr val="bg1"/>
                </a:solidFill>
              </a:rPr>
              <a:t>Recomendações personalizadas: o algoritmo que te conhece melhor que você</a:t>
            </a:r>
          </a:p>
          <a:p>
            <a:pPr marL="457200" indent="-457200">
              <a:buAutoNum type="arabicPeriod"/>
            </a:pPr>
            <a:r>
              <a:rPr lang="pt-BR" sz="2000" b="1" dirty="0">
                <a:solidFill>
                  <a:schemeClr val="bg1"/>
                </a:solidFill>
              </a:rPr>
              <a:t>IA nas redes sociais: o segredo por trás do feed perfeito</a:t>
            </a:r>
          </a:p>
          <a:p>
            <a:pPr marL="457200" indent="-457200">
              <a:buAutoNum type="arabicPeriod"/>
            </a:pPr>
            <a:r>
              <a:rPr lang="pt-BR" sz="2000" b="1" dirty="0">
                <a:solidFill>
                  <a:schemeClr val="bg1"/>
                </a:solidFill>
              </a:rPr>
              <a:t>Conclusão – O futuro já começou: como conviver com a inteligência artificial</a:t>
            </a:r>
            <a:endParaRPr lang="pt-BR" altLang="pt-BR" sz="2000" b="1" dirty="0">
              <a:solidFill>
                <a:schemeClr val="bg1"/>
              </a:solidFill>
            </a:endParaRPr>
          </a:p>
          <a:p>
            <a:endParaRPr lang="pt-BR" dirty="0"/>
          </a:p>
        </p:txBody>
      </p:sp>
    </p:spTree>
    <p:extLst>
      <p:ext uri="{BB962C8B-B14F-4D97-AF65-F5344CB8AC3E}">
        <p14:creationId xmlns:p14="http://schemas.microsoft.com/office/powerpoint/2010/main" val="130247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70583" y="241867"/>
            <a:ext cx="6583679" cy="2123658"/>
          </a:xfrm>
          <a:prstGeom prst="rect">
            <a:avLst/>
          </a:prstGeom>
          <a:noFill/>
        </p:spPr>
        <p:txBody>
          <a:bodyPr wrap="square" rtlCol="0">
            <a:spAutoFit/>
          </a:bodyPr>
          <a:lstStyle/>
          <a:p>
            <a:pPr algn="ctr"/>
            <a:r>
              <a:rPr lang="pt-BR" altLang="pt-BR" sz="4400" b="1" dirty="0">
                <a:solidFill>
                  <a:schemeClr val="bg1"/>
                </a:solidFill>
                <a:latin typeface="Bauhaus 93" panose="04030905020B02020C02" pitchFamily="82" charset="0"/>
              </a:rPr>
              <a:t>Introdução – A IA invisível que já faz parte da sua rotina</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704622" y="2488155"/>
            <a:ext cx="5879056" cy="6247864"/>
          </a:xfrm>
          <a:prstGeom prst="rect">
            <a:avLst/>
          </a:prstGeom>
          <a:noFill/>
        </p:spPr>
        <p:txBody>
          <a:bodyPr wrap="square" rtlCol="0">
            <a:spAutoFit/>
          </a:bodyPr>
          <a:lstStyle/>
          <a:p>
            <a:r>
              <a:rPr lang="pt-BR" sz="2000" dirty="0">
                <a:solidFill>
                  <a:schemeClr val="bg1"/>
                </a:solidFill>
              </a:rPr>
              <a:t>A inteligência artificial deixou de ser coisa de filmes futuristas há muito tempo. Hoje, ela está em todos os lugares — nos nossos celulares, nas redes sociais, nas compras online e até no modo como pedimos comida. O mais curioso é que, na maioria das vezes, usamos IA sem nem perceber. Por trás de cada clique, pesquisa ou recomendação, há algoritmos aprendendo com nossos comportamentos. Eles observam padrões, fazem previsões e tomam decisões automáticas para tornar nossa vida mais fácil (ou mais viciante).A IA se tornou uma extensão do nosso cotidiano digital, moldando o que vemos, ouvimos e compramos. E, embora muitos ainda associem inteligência artificial a robôs ou ficção científica, na prática ela é um conjunto de sistemas que aprendem, se adaptam e otimizam tarefas humanas. Neste e-book, você vai conhecer 10 formas de usar IA todos os dias, sem perceber que há uma “mente sintética” trabalhando nos bastidores. Prepare-se para entender como a tecnologia está reescrevendo sua rotina — linha por linha de código.</a:t>
            </a:r>
          </a:p>
        </p:txBody>
      </p:sp>
    </p:spTree>
    <p:extLst>
      <p:ext uri="{BB962C8B-B14F-4D97-AF65-F5344CB8AC3E}">
        <p14:creationId xmlns:p14="http://schemas.microsoft.com/office/powerpoint/2010/main" val="761130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70583" y="241867"/>
            <a:ext cx="6583679" cy="1446550"/>
          </a:xfrm>
          <a:prstGeom prst="rect">
            <a:avLst/>
          </a:prstGeom>
          <a:noFill/>
        </p:spPr>
        <p:txBody>
          <a:bodyPr wrap="square" rtlCol="0">
            <a:spAutoFit/>
          </a:bodyPr>
          <a:lstStyle/>
          <a:p>
            <a:pPr algn="ctr"/>
            <a:r>
              <a:rPr lang="pt-BR" altLang="pt-BR" sz="4400" b="1" dirty="0">
                <a:solidFill>
                  <a:schemeClr val="bg1"/>
                </a:solidFill>
                <a:latin typeface="Bauhaus 93" panose="04030905020B02020C02" pitchFamily="82" charset="0"/>
              </a:rPr>
              <a:t>Assistentes virtuais: sua voz, o poder da IA</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704622" y="2226898"/>
            <a:ext cx="5879056" cy="6555641"/>
          </a:xfrm>
          <a:prstGeom prst="rect">
            <a:avLst/>
          </a:prstGeom>
          <a:noFill/>
        </p:spPr>
        <p:txBody>
          <a:bodyPr wrap="square" rtlCol="0">
            <a:spAutoFit/>
          </a:bodyPr>
          <a:lstStyle/>
          <a:p>
            <a:r>
              <a:rPr lang="pt-BR" sz="2000" dirty="0">
                <a:solidFill>
                  <a:schemeClr val="bg1"/>
                </a:solidFill>
              </a:rPr>
              <a:t>“Ok, Google.” “</a:t>
            </a:r>
            <a:r>
              <a:rPr lang="pt-BR" sz="2000" dirty="0" err="1">
                <a:solidFill>
                  <a:schemeClr val="bg1"/>
                </a:solidFill>
              </a:rPr>
              <a:t>Alexa</a:t>
            </a:r>
            <a:r>
              <a:rPr lang="pt-BR" sz="2000" dirty="0">
                <a:solidFill>
                  <a:schemeClr val="bg1"/>
                </a:solidFill>
              </a:rPr>
              <a:t>, toque minha playlist favorita.” “Siri, lembre-me de estudar amanhã." Essas frases são o ponto de partida para uma das formas mais diretas e populares de interação com a inteligência artificial. Os assistentes virtuais utilizam IA para reconhecer, interpretar e responder à linguagem humana. Eles aprendem com seus hábitos, sua voz e até o horário em que você costuma dar comandos. Por trás dessa conversa natural, há redes neurais complexas treinadas com milhões de exemplos de fala e texto. O resultado é que, em poucos segundos, o assistente entende o que você quer e executa a tarefa — seja tocar uma música, marcar um compromisso ou controlar lâmpadas inteligentes. Mais do que conveniência, os assistentes virtuais são um retrato da fusão entre linguagem humana e programação. Cada vez que você fala com um deles, um algoritmo está traduzindo suas palavras em dados, processando intenções e devolvendo uma resposta inteligente. Em outras palavras: você está literalmente programando com a voz.</a:t>
            </a:r>
          </a:p>
        </p:txBody>
      </p:sp>
    </p:spTree>
    <p:extLst>
      <p:ext uri="{BB962C8B-B14F-4D97-AF65-F5344CB8AC3E}">
        <p14:creationId xmlns:p14="http://schemas.microsoft.com/office/powerpoint/2010/main" val="3373626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23710" y="302942"/>
            <a:ext cx="6858000" cy="2554545"/>
          </a:xfrm>
          <a:prstGeom prst="rect">
            <a:avLst/>
          </a:prstGeom>
          <a:noFill/>
        </p:spPr>
        <p:txBody>
          <a:bodyPr wrap="square" rtlCol="0">
            <a:spAutoFit/>
          </a:bodyPr>
          <a:lstStyle/>
          <a:p>
            <a:pPr algn="ctr"/>
            <a:r>
              <a:rPr lang="pt-BR" altLang="pt-BR" sz="4000" b="1" dirty="0">
                <a:solidFill>
                  <a:schemeClr val="bg1"/>
                </a:solidFill>
                <a:latin typeface="Bauhaus 93" panose="04030905020B02020C02" pitchFamily="82" charset="0"/>
              </a:rPr>
              <a:t>Recomendações personalizadas: o algoritmo que te conhece melhor que você</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613182" y="3160429"/>
            <a:ext cx="5879056" cy="5940088"/>
          </a:xfrm>
          <a:prstGeom prst="rect">
            <a:avLst/>
          </a:prstGeom>
          <a:noFill/>
        </p:spPr>
        <p:txBody>
          <a:bodyPr wrap="square" rtlCol="0">
            <a:spAutoFit/>
          </a:bodyPr>
          <a:lstStyle/>
          <a:p>
            <a:r>
              <a:rPr lang="pt-BR" sz="2000" dirty="0">
                <a:solidFill>
                  <a:schemeClr val="bg1"/>
                </a:solidFill>
              </a:rPr>
              <a:t>Já reparou como o Netflix sempre “adivinha” o que você quer assistir? Ou como o </a:t>
            </a:r>
            <a:r>
              <a:rPr lang="pt-BR" sz="2000" dirty="0" err="1">
                <a:solidFill>
                  <a:schemeClr val="bg1"/>
                </a:solidFill>
              </a:rPr>
              <a:t>Spotify</a:t>
            </a:r>
            <a:r>
              <a:rPr lang="pt-BR" sz="2000" dirty="0">
                <a:solidFill>
                  <a:schemeClr val="bg1"/>
                </a:solidFill>
              </a:rPr>
              <a:t> cria playlists que parecem ler sua mente? Isso não é coincidência — é IA em ação. Esses sistemas de recomendação utilizam aprendizado de máquina para analisar seus gostos, histórico e interações. Com base nesses dados, eles fazem previsões sobre o que você provavelmente vai gostar de ver, ouvir ou comprar em seguida. O mais impressionante é que esses algoritmos não apenas aprendem com você, mas também com milhões de outros usuários. Assim, quando alguém com perfil semelhante ao seu gosta de um conteúdo, o sistema entende que talvez você também vá gostar. O resultado? Uma experiência </a:t>
            </a:r>
            <a:r>
              <a:rPr lang="pt-BR" sz="2000" dirty="0" err="1">
                <a:solidFill>
                  <a:schemeClr val="bg1"/>
                </a:solidFill>
              </a:rPr>
              <a:t>hiperpersonalizada</a:t>
            </a:r>
            <a:r>
              <a:rPr lang="pt-BR" sz="2000" dirty="0">
                <a:solidFill>
                  <a:schemeClr val="bg1"/>
                </a:solidFill>
              </a:rPr>
              <a:t> — e uma rotina moldada por dados. A IA se torna uma espécie de curadora digital, escolhendo o que você consome, influencia suas decisões e até o seu humor. Em resumo: os algoritmos te conhecem mais do que você imagina — e talvez mais do que você mesmo.</a:t>
            </a:r>
          </a:p>
        </p:txBody>
      </p:sp>
    </p:spTree>
    <p:extLst>
      <p:ext uri="{BB962C8B-B14F-4D97-AF65-F5344CB8AC3E}">
        <p14:creationId xmlns:p14="http://schemas.microsoft.com/office/powerpoint/2010/main" val="2018215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23710" y="302942"/>
            <a:ext cx="6616724" cy="1938992"/>
          </a:xfrm>
          <a:prstGeom prst="rect">
            <a:avLst/>
          </a:prstGeom>
          <a:noFill/>
        </p:spPr>
        <p:txBody>
          <a:bodyPr wrap="square" rtlCol="0">
            <a:spAutoFit/>
          </a:bodyPr>
          <a:lstStyle/>
          <a:p>
            <a:pPr algn="ctr"/>
            <a:r>
              <a:rPr lang="pt-BR" altLang="pt-BR" sz="4000" b="1" dirty="0">
                <a:solidFill>
                  <a:schemeClr val="bg1"/>
                </a:solidFill>
                <a:latin typeface="Bauhaus 93" panose="04030905020B02020C02" pitchFamily="82" charset="0"/>
              </a:rPr>
              <a:t>IA nas redes sociais: o segredo por trás do feed perfeito</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704622" y="2285218"/>
            <a:ext cx="5879056" cy="7478970"/>
          </a:xfrm>
          <a:prstGeom prst="rect">
            <a:avLst/>
          </a:prstGeom>
          <a:noFill/>
        </p:spPr>
        <p:txBody>
          <a:bodyPr wrap="square" rtlCol="0">
            <a:spAutoFit/>
          </a:bodyPr>
          <a:lstStyle/>
          <a:p>
            <a:r>
              <a:rPr lang="pt-BR" sz="2000" dirty="0">
                <a:solidFill>
                  <a:schemeClr val="bg1"/>
                </a:solidFill>
              </a:rPr>
              <a:t>A cada rolagem de tela no Instagram, </a:t>
            </a:r>
            <a:r>
              <a:rPr lang="pt-BR" sz="2000" dirty="0" err="1">
                <a:solidFill>
                  <a:schemeClr val="bg1"/>
                </a:solidFill>
              </a:rPr>
              <a:t>TikTok</a:t>
            </a:r>
            <a:r>
              <a:rPr lang="pt-BR" sz="2000" dirty="0">
                <a:solidFill>
                  <a:schemeClr val="bg1"/>
                </a:solidFill>
              </a:rPr>
              <a:t> ou X (Twitter), você entra num ecossistema controlado por IA.</a:t>
            </a:r>
            <a:br>
              <a:rPr lang="pt-BR" sz="2000" dirty="0">
                <a:solidFill>
                  <a:schemeClr val="bg1"/>
                </a:solidFill>
              </a:rPr>
            </a:br>
            <a:r>
              <a:rPr lang="pt-BR" sz="2000" dirty="0">
                <a:solidFill>
                  <a:schemeClr val="bg1"/>
                </a:solidFill>
              </a:rPr>
              <a:t>O que aparece no seu feed não é aleatório — é o resultado de milhões de cálculos feitos para prender sua atenção.</a:t>
            </a:r>
          </a:p>
          <a:p>
            <a:r>
              <a:rPr lang="pt-BR" sz="2000" dirty="0">
                <a:solidFill>
                  <a:schemeClr val="bg1"/>
                </a:solidFill>
              </a:rPr>
              <a:t>Os algoritmos de IA observam tudo: o tempo que você passa vendo um vídeo, os perfis com que mais interage, os tipos de posts que você curte, comenta ou ignora. Com isso, eles constroem um perfil digital seu, e personalizam o conteúdo para que você veja exatamente o que vai te fazer continuar rolando.</a:t>
            </a:r>
          </a:p>
          <a:p>
            <a:r>
              <a:rPr lang="pt-BR" sz="2000" dirty="0">
                <a:solidFill>
                  <a:schemeClr val="bg1"/>
                </a:solidFill>
              </a:rPr>
              <a:t>Essas redes sociais usam modelos preditivos para entender seus padrões emocionais e de comportamento. Por isso, é comum sentir que o aplicativo “sabe” o que você quer ver.</a:t>
            </a:r>
          </a:p>
          <a:p>
            <a:r>
              <a:rPr lang="pt-BR" sz="2000" dirty="0">
                <a:solidFill>
                  <a:schemeClr val="bg1"/>
                </a:solidFill>
              </a:rPr>
              <a:t>A IA nas redes sociais é poderosa — mas também levanta questões éticas sobre privacidade e vício digital. Afinal, quanto mais tempo você passa nelas, mais dados você entrega, e mais o algoritmo te entende.</a:t>
            </a:r>
          </a:p>
          <a:p>
            <a:r>
              <a:rPr lang="pt-BR" sz="2000" dirty="0">
                <a:solidFill>
                  <a:schemeClr val="bg1"/>
                </a:solidFill>
              </a:rPr>
              <a:t>No fim das contas, o feed “perfeito” é, na verdade, um espelho inteligente — refletindo o que a IA acredita que te prende por mais tempo.</a:t>
            </a:r>
          </a:p>
        </p:txBody>
      </p:sp>
    </p:spTree>
    <p:extLst>
      <p:ext uri="{BB962C8B-B14F-4D97-AF65-F5344CB8AC3E}">
        <p14:creationId xmlns:p14="http://schemas.microsoft.com/office/powerpoint/2010/main" val="354043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23710" y="302942"/>
            <a:ext cx="6616724" cy="1938992"/>
          </a:xfrm>
          <a:prstGeom prst="rect">
            <a:avLst/>
          </a:prstGeom>
          <a:noFill/>
        </p:spPr>
        <p:txBody>
          <a:bodyPr wrap="square" rtlCol="0">
            <a:spAutoFit/>
          </a:bodyPr>
          <a:lstStyle/>
          <a:p>
            <a:pPr algn="ctr"/>
            <a:r>
              <a:rPr lang="pt-BR" altLang="pt-BR" sz="4000" b="1" dirty="0">
                <a:solidFill>
                  <a:schemeClr val="bg1"/>
                </a:solidFill>
                <a:latin typeface="Bauhaus 93" panose="04030905020B02020C02" pitchFamily="82" charset="0"/>
              </a:rPr>
              <a:t>Conclusão – O futuro já começou: como conviver com a inteligência artificial</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704622" y="2672821"/>
            <a:ext cx="5879056" cy="5940088"/>
          </a:xfrm>
          <a:prstGeom prst="rect">
            <a:avLst/>
          </a:prstGeom>
          <a:noFill/>
        </p:spPr>
        <p:txBody>
          <a:bodyPr wrap="square" rtlCol="0">
            <a:spAutoFit/>
          </a:bodyPr>
          <a:lstStyle/>
          <a:p>
            <a:r>
              <a:rPr lang="pt-BR" sz="2000" dirty="0">
                <a:solidFill>
                  <a:schemeClr val="bg1"/>
                </a:solidFill>
              </a:rPr>
              <a:t>A inteligência artificial não é mais uma promessa distante — ela já é parte do </a:t>
            </a:r>
            <a:r>
              <a:rPr lang="pt-BR" sz="2000" dirty="0" err="1">
                <a:solidFill>
                  <a:schemeClr val="bg1"/>
                </a:solidFill>
              </a:rPr>
              <a:t>presente.De</a:t>
            </a:r>
            <a:r>
              <a:rPr lang="pt-BR" sz="2000" dirty="0">
                <a:solidFill>
                  <a:schemeClr val="bg1"/>
                </a:solidFill>
              </a:rPr>
              <a:t> assistentes virtuais a recomendações automáticas, de câmeras inteligentes a diagnósticos médicos, a IA atua de forma invisível, porém constante, em tudo o que </a:t>
            </a:r>
            <a:r>
              <a:rPr lang="pt-BR" sz="2000" dirty="0" err="1">
                <a:solidFill>
                  <a:schemeClr val="bg1"/>
                </a:solidFill>
              </a:rPr>
              <a:t>fazemos.Ela</a:t>
            </a:r>
            <a:r>
              <a:rPr lang="pt-BR" sz="2000" dirty="0">
                <a:solidFill>
                  <a:schemeClr val="bg1"/>
                </a:solidFill>
              </a:rPr>
              <a:t> amplifica nossas capacidades, mas também nos desafia a repensar nosso </a:t>
            </a:r>
            <a:r>
              <a:rPr lang="pt-BR" sz="2000" dirty="0" err="1">
                <a:solidFill>
                  <a:schemeClr val="bg1"/>
                </a:solidFill>
              </a:rPr>
              <a:t>papel.Afinal</a:t>
            </a:r>
            <a:r>
              <a:rPr lang="pt-BR" sz="2000" dirty="0">
                <a:solidFill>
                  <a:schemeClr val="bg1"/>
                </a:solidFill>
              </a:rPr>
              <a:t>, quanto mais a tecnologia decide por nós, mais precisamos desenvolver habilidades que nenhuma máquina consegue substituir: empatia, criatividade, senso crítico e </a:t>
            </a:r>
            <a:r>
              <a:rPr lang="pt-BR" sz="2000" dirty="0" err="1">
                <a:solidFill>
                  <a:schemeClr val="bg1"/>
                </a:solidFill>
              </a:rPr>
              <a:t>ética.Conviver</a:t>
            </a:r>
            <a:r>
              <a:rPr lang="pt-BR" sz="2000" dirty="0">
                <a:solidFill>
                  <a:schemeClr val="bg1"/>
                </a:solidFill>
              </a:rPr>
              <a:t> com a IA é aprender a usá-la como ferramenta, não como </a:t>
            </a:r>
            <a:r>
              <a:rPr lang="pt-BR" sz="2000" dirty="0" err="1">
                <a:solidFill>
                  <a:schemeClr val="bg1"/>
                </a:solidFill>
              </a:rPr>
              <a:t>substituta.O</a:t>
            </a:r>
            <a:r>
              <a:rPr lang="pt-BR" sz="2000" dirty="0">
                <a:solidFill>
                  <a:schemeClr val="bg1"/>
                </a:solidFill>
              </a:rPr>
              <a:t> verdadeiro poder está em quem sabe entender os algoritmos — e não em quem apenas os </a:t>
            </a:r>
            <a:r>
              <a:rPr lang="pt-BR" sz="2000" dirty="0" err="1">
                <a:solidFill>
                  <a:schemeClr val="bg1"/>
                </a:solidFill>
              </a:rPr>
              <a:t>segue.Então</a:t>
            </a:r>
            <a:r>
              <a:rPr lang="pt-BR" sz="2000" dirty="0">
                <a:solidFill>
                  <a:schemeClr val="bg1"/>
                </a:solidFill>
              </a:rPr>
              <a:t>, da próxima vez que pedir uma rota no mapa, ouvir uma playlist ou rolar o feed, lembre-se: há uma IA ali, observando, aprendendo e ajudando você a navegar pelo mundo </a:t>
            </a:r>
            <a:r>
              <a:rPr lang="pt-BR" sz="2000" dirty="0" err="1">
                <a:solidFill>
                  <a:schemeClr val="bg1"/>
                </a:solidFill>
              </a:rPr>
              <a:t>digital.O</a:t>
            </a:r>
            <a:r>
              <a:rPr lang="pt-BR" sz="2000" dirty="0">
                <a:solidFill>
                  <a:schemeClr val="bg1"/>
                </a:solidFill>
              </a:rPr>
              <a:t> futuro não está chegando. O futuro já está rodando em segundo plano.</a:t>
            </a:r>
          </a:p>
        </p:txBody>
      </p:sp>
    </p:spTree>
    <p:extLst>
      <p:ext uri="{BB962C8B-B14F-4D97-AF65-F5344CB8AC3E}">
        <p14:creationId xmlns:p14="http://schemas.microsoft.com/office/powerpoint/2010/main" val="3905927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C23D0454-B0D9-4DDD-9929-3E2797DC80D1}"/>
              </a:ext>
            </a:extLst>
          </p:cNvPr>
          <p:cNvSpPr/>
          <p:nvPr/>
        </p:nvSpPr>
        <p:spPr>
          <a:xfrm>
            <a:off x="0" y="0"/>
            <a:ext cx="6858000" cy="9906000"/>
          </a:xfrm>
          <a:prstGeom prst="rect">
            <a:avLst/>
          </a:prstGeom>
          <a:solidFill>
            <a:srgbClr val="0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2000" b="1" dirty="0">
              <a:solidFill>
                <a:schemeClr val="bg1"/>
              </a:solidFill>
              <a:latin typeface="Century Gothic" panose="020B0502020202020204" pitchFamily="34" charset="0"/>
            </a:endParaRPr>
          </a:p>
        </p:txBody>
      </p:sp>
      <p:sp>
        <p:nvSpPr>
          <p:cNvPr id="4" name="CaixaDeTexto 3">
            <a:extLst>
              <a:ext uri="{FF2B5EF4-FFF2-40B4-BE49-F238E27FC236}">
                <a16:creationId xmlns:a16="http://schemas.microsoft.com/office/drawing/2014/main" id="{C815C4F4-ACD2-496E-ABA0-3975BFF5DDA6}"/>
              </a:ext>
            </a:extLst>
          </p:cNvPr>
          <p:cNvSpPr txBox="1"/>
          <p:nvPr/>
        </p:nvSpPr>
        <p:spPr>
          <a:xfrm>
            <a:off x="120637" y="920912"/>
            <a:ext cx="6616724" cy="646331"/>
          </a:xfrm>
          <a:prstGeom prst="rect">
            <a:avLst/>
          </a:prstGeom>
          <a:noFill/>
        </p:spPr>
        <p:txBody>
          <a:bodyPr wrap="square" rtlCol="0">
            <a:spAutoFit/>
          </a:bodyPr>
          <a:lstStyle/>
          <a:p>
            <a:pPr algn="ctr"/>
            <a:r>
              <a:rPr lang="pt-BR" altLang="pt-BR" sz="3600" b="1" dirty="0">
                <a:solidFill>
                  <a:schemeClr val="bg1"/>
                </a:solidFill>
                <a:latin typeface="Bauhaus 93" panose="04030905020B02020C02" pitchFamily="82" charset="0"/>
              </a:rPr>
              <a:t>OBRIGADA POR LER ATÉ AQUI.</a:t>
            </a:r>
          </a:p>
        </p:txBody>
      </p:sp>
      <p:sp>
        <p:nvSpPr>
          <p:cNvPr id="7" name="Retângulo 6">
            <a:extLst>
              <a:ext uri="{FF2B5EF4-FFF2-40B4-BE49-F238E27FC236}">
                <a16:creationId xmlns:a16="http://schemas.microsoft.com/office/drawing/2014/main" id="{50EC472A-0781-4BDE-99EB-8DEFE2D4862D}"/>
              </a:ext>
            </a:extLst>
          </p:cNvPr>
          <p:cNvSpPr/>
          <p:nvPr/>
        </p:nvSpPr>
        <p:spPr>
          <a:xfrm>
            <a:off x="274320" y="2488155"/>
            <a:ext cx="6309358" cy="369332"/>
          </a:xfrm>
          <a:prstGeom prst="rect">
            <a:avLst/>
          </a:prstGeom>
        </p:spPr>
        <p:txBody>
          <a:bodyPr wrap="square">
            <a:spAutoFit/>
          </a:bodyPr>
          <a:lstStyle/>
          <a:p>
            <a:endParaRPr lang="pt-BR" dirty="0">
              <a:solidFill>
                <a:schemeClr val="bg1"/>
              </a:solidFill>
            </a:endParaRPr>
          </a:p>
        </p:txBody>
      </p:sp>
      <p:sp>
        <p:nvSpPr>
          <p:cNvPr id="11" name="CaixaDeTexto 10">
            <a:extLst>
              <a:ext uri="{FF2B5EF4-FFF2-40B4-BE49-F238E27FC236}">
                <a16:creationId xmlns:a16="http://schemas.microsoft.com/office/drawing/2014/main" id="{2A908705-8566-466A-B671-2D2A88327501}"/>
              </a:ext>
            </a:extLst>
          </p:cNvPr>
          <p:cNvSpPr txBox="1"/>
          <p:nvPr/>
        </p:nvSpPr>
        <p:spPr>
          <a:xfrm>
            <a:off x="704622" y="2019678"/>
            <a:ext cx="5879056" cy="7171194"/>
          </a:xfrm>
          <a:prstGeom prst="rect">
            <a:avLst/>
          </a:prstGeom>
          <a:noFill/>
        </p:spPr>
        <p:txBody>
          <a:bodyPr wrap="square" rtlCol="0">
            <a:spAutoFit/>
          </a:bodyPr>
          <a:lstStyle/>
          <a:p>
            <a:r>
              <a:rPr lang="pt-BR" sz="2000" dirty="0">
                <a:solidFill>
                  <a:schemeClr val="bg1"/>
                </a:solidFill>
              </a:rPr>
              <a:t>Agradeço a todos que, de alguma forma, contribuíram para a criação deste e-book.</a:t>
            </a:r>
          </a:p>
          <a:p>
            <a:br>
              <a:rPr lang="pt-BR" sz="2000" dirty="0">
                <a:solidFill>
                  <a:schemeClr val="bg1"/>
                </a:solidFill>
              </a:rPr>
            </a:br>
            <a:r>
              <a:rPr lang="pt-BR" sz="2000" dirty="0">
                <a:solidFill>
                  <a:schemeClr val="bg1"/>
                </a:solidFill>
              </a:rPr>
              <a:t>A cada conversa, troca de ideia e incentivo, encontrei motivação para transformar curiosidade em conteúdo e conhecimento em inspiração.</a:t>
            </a:r>
          </a:p>
          <a:p>
            <a:endParaRPr lang="pt-BR" sz="2000" dirty="0">
              <a:solidFill>
                <a:schemeClr val="bg1"/>
              </a:solidFill>
            </a:endParaRPr>
          </a:p>
          <a:p>
            <a:r>
              <a:rPr lang="pt-BR" sz="2000" dirty="0">
                <a:solidFill>
                  <a:schemeClr val="bg1"/>
                </a:solidFill>
              </a:rPr>
              <a:t>Um agradecimento especial aos professores, colegas e amigos que sempre acreditaram no poder da tecnologia como ferramenta de transformação.</a:t>
            </a:r>
          </a:p>
          <a:p>
            <a:br>
              <a:rPr lang="pt-BR" sz="2000" dirty="0">
                <a:solidFill>
                  <a:schemeClr val="bg1"/>
                </a:solidFill>
              </a:rPr>
            </a:br>
            <a:r>
              <a:rPr lang="pt-BR" sz="2000" dirty="0">
                <a:solidFill>
                  <a:schemeClr val="bg1"/>
                </a:solidFill>
              </a:rPr>
              <a:t>E, claro, a você, leitor, que dedicou seu tempo para explorar como a inteligência artificial já faz parte da nossa rotina — mesmo quando não percebemos.</a:t>
            </a:r>
          </a:p>
          <a:p>
            <a:r>
              <a:rPr lang="pt-BR" sz="2000" dirty="0">
                <a:solidFill>
                  <a:schemeClr val="bg1"/>
                </a:solidFill>
              </a:rPr>
              <a:t>Que este material desperte sua curiosidade, amplie seu olhar sobre o mundo digital e te inspire a continuar aprendendo, programando e inovando.</a:t>
            </a:r>
          </a:p>
          <a:p>
            <a:br>
              <a:rPr lang="pt-BR" sz="2000" dirty="0">
                <a:solidFill>
                  <a:schemeClr val="bg1"/>
                </a:solidFill>
              </a:rPr>
            </a:br>
            <a:r>
              <a:rPr lang="pt-BR" sz="2000" dirty="0">
                <a:solidFill>
                  <a:schemeClr val="bg1"/>
                </a:solidFill>
              </a:rPr>
              <a:t>Afinal, o futuro não é das máquinas, mas de quem </a:t>
            </a:r>
            <a:r>
              <a:rPr lang="pt-BR" sz="2000" b="1" dirty="0">
                <a:solidFill>
                  <a:schemeClr val="bg1"/>
                </a:solidFill>
              </a:rPr>
              <a:t>sabe usá-las com propósito</a:t>
            </a:r>
            <a:r>
              <a:rPr lang="pt-BR" sz="2000" dirty="0">
                <a:solidFill>
                  <a:schemeClr val="bg1"/>
                </a:solidFill>
              </a:rPr>
              <a:t>. 💻✨</a:t>
            </a:r>
          </a:p>
          <a:p>
            <a:endParaRPr lang="pt-BR" sz="2000" dirty="0">
              <a:solidFill>
                <a:schemeClr val="bg1"/>
              </a:solidFill>
            </a:endParaRPr>
          </a:p>
          <a:p>
            <a:r>
              <a:rPr lang="pt-BR" sz="2000" dirty="0">
                <a:solidFill>
                  <a:schemeClr val="bg1"/>
                </a:solidFill>
              </a:rPr>
              <a:t>Com gratidão,</a:t>
            </a:r>
            <a:br>
              <a:rPr lang="pt-BR" sz="2000" dirty="0">
                <a:solidFill>
                  <a:schemeClr val="bg1"/>
                </a:solidFill>
              </a:rPr>
            </a:br>
            <a:r>
              <a:rPr lang="pt-BR" sz="2000" b="1" dirty="0">
                <a:solidFill>
                  <a:schemeClr val="bg1"/>
                </a:solidFill>
              </a:rPr>
              <a:t>Ana Júlia Eloy</a:t>
            </a:r>
            <a:endParaRPr lang="pt-BR" sz="2000" dirty="0">
              <a:solidFill>
                <a:schemeClr val="bg1"/>
              </a:solidFill>
            </a:endParaRPr>
          </a:p>
        </p:txBody>
      </p:sp>
    </p:spTree>
    <p:extLst>
      <p:ext uri="{BB962C8B-B14F-4D97-AF65-F5344CB8AC3E}">
        <p14:creationId xmlns:p14="http://schemas.microsoft.com/office/powerpoint/2010/main" val="47277413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TotalTime>
  <Words>1327</Words>
  <Application>Microsoft Office PowerPoint</Application>
  <PresentationFormat>Papel A4 (210 x 297 mm)</PresentationFormat>
  <Paragraphs>36</Paragraphs>
  <Slides>9</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9</vt:i4>
      </vt:variant>
    </vt:vector>
  </HeadingPairs>
  <TitlesOfParts>
    <vt:vector size="15" baseType="lpstr">
      <vt:lpstr>Arial</vt:lpstr>
      <vt:lpstr>Bauhaus 93</vt:lpstr>
      <vt:lpstr>Calibri</vt:lpstr>
      <vt:lpstr>Calibri Light</vt:lpstr>
      <vt:lpstr>Century Gothic</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Ana Júlia Eloy</dc:creator>
  <cp:lastModifiedBy>Ana Júlia Eloy</cp:lastModifiedBy>
  <cp:revision>7</cp:revision>
  <dcterms:created xsi:type="dcterms:W3CDTF">2025-11-10T18:23:26Z</dcterms:created>
  <dcterms:modified xsi:type="dcterms:W3CDTF">2025-11-10T19:20:03Z</dcterms:modified>
</cp:coreProperties>
</file>